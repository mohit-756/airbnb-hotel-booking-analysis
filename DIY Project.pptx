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5"/>
  </p:notesMasterIdLst>
  <p:handoutMasterIdLst>
    <p:handoutMasterId r:id="rId16"/>
  </p:handoutMasterIdLst>
  <p:sldIdLst>
    <p:sldId id="338" r:id="rId5"/>
    <p:sldId id="327" r:id="rId6"/>
    <p:sldId id="315" r:id="rId7"/>
    <p:sldId id="329" r:id="rId8"/>
    <p:sldId id="302" r:id="rId9"/>
    <p:sldId id="339" r:id="rId10"/>
    <p:sldId id="342" r:id="rId11"/>
    <p:sldId id="340" r:id="rId12"/>
    <p:sldId id="341" r:id="rId13"/>
    <p:sldId id="30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11/27/2025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11/27/2025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11/27/2025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11/27/2025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11/27/2025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ohit-756/AIRBNB-HOTEL-BOOKING-ANALYSIS" TargetMode="External"/><Relationship Id="rId2" Type="http://schemas.openxmlformats.org/officeDocument/2006/relationships/image" Target="../media/image1.jfif"/><Relationship Id="rId1" Type="http://schemas.openxmlformats.org/officeDocument/2006/relationships/slideLayout" Target="../slideLayouts/slideLayout20.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normAutofit/>
          </a:bodyPr>
          <a:lstStyle/>
          <a:p>
            <a:pPr algn="r"/>
            <a:r>
              <a:rPr lang="en-US" sz="3200" dirty="0">
                <a:solidFill>
                  <a:schemeClr val="tx1"/>
                </a:solidFill>
              </a:rPr>
              <a:t>Mohit </a:t>
            </a:r>
            <a:r>
              <a:rPr lang="en-US" sz="3200" dirty="0" err="1">
                <a:solidFill>
                  <a:schemeClr val="tx1"/>
                </a:solidFill>
              </a:rPr>
              <a:t>Cheedala</a:t>
            </a:r>
            <a:endParaRPr lang="en-IN" sz="320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830738" y="2716001"/>
            <a:ext cx="11605102" cy="1425998"/>
          </a:xfrm>
        </p:spPr>
        <p:txBody>
          <a:bodyPr>
            <a:normAutofit fontScale="90000"/>
          </a:bodyPr>
          <a:lstStyle/>
          <a:p>
            <a:r>
              <a:rPr lang="en-GB" sz="4800" dirty="0"/>
              <a:t>Project Title </a:t>
            </a:r>
            <a:br>
              <a:rPr lang="en-GB" sz="4800" dirty="0"/>
            </a:br>
            <a:r>
              <a:rPr lang="en-GB" sz="4800" b="1" dirty="0"/>
              <a:t>AIRBNB HOTEL BOOKING ANALYSIS</a:t>
            </a:r>
            <a:endParaRPr lang="en-IN" sz="48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452880"/>
            <a:ext cx="7505478" cy="4551680"/>
          </a:xfrm>
        </p:spPr>
        <p:txBody>
          <a:bodyPr>
            <a:normAutofit fontScale="85000" lnSpcReduction="20000"/>
          </a:bodyPr>
          <a:lstStyle/>
          <a:p>
            <a:pPr>
              <a:lnSpc>
                <a:spcPct val="150000"/>
              </a:lnSpc>
            </a:pPr>
            <a:r>
              <a:rPr lang="en-US" sz="2800" dirty="0">
                <a:solidFill>
                  <a:schemeClr val="tx1"/>
                </a:solidFill>
              </a:rPr>
              <a:t>Airbnb has changed the way people travel, but in major cities, certain neighborhoods are overcrowded with listings while others remain underutilized. This creates issues like </a:t>
            </a:r>
            <a:r>
              <a:rPr lang="en-US" sz="2800" b="1" dirty="0">
                <a:solidFill>
                  <a:schemeClr val="tx1"/>
                </a:solidFill>
              </a:rPr>
              <a:t>pricing imbalance, inconsistent availability, and uneven guest experiences</a:t>
            </a:r>
            <a:r>
              <a:rPr lang="en-US" sz="2800" dirty="0">
                <a:solidFill>
                  <a:schemeClr val="tx1"/>
                </a:solidFill>
              </a:rPr>
              <a:t>. Analyzing the dataset can help identify which neighborhoods dominate the market, which room types are most common, and how reviews differ across locations.</a:t>
            </a:r>
            <a:endParaRPr lang="en-IN" sz="2800" dirty="0">
              <a:solidFill>
                <a:schemeClr val="tx1"/>
              </a:solidFill>
            </a:endParaRP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627347"/>
          </a:xfrm>
        </p:spPr>
        <p:txBody>
          <a:bodyPr>
            <a:normAutofit fontScale="90000"/>
          </a:bodyPr>
          <a:lstStyle/>
          <a:p>
            <a:r>
              <a:rPr lang="en-GB" dirty="0"/>
              <a:t>Project Description</a:t>
            </a:r>
            <a:br>
              <a:rPr lang="en-GB" dirty="0"/>
            </a:br>
            <a:r>
              <a:rPr lang="en-US" sz="2000" b="0" dirty="0"/>
              <a:t>This project explores Airbnb data to uncover imbalances in listings across neighborhoods and study the relationship between room types, availability, and guest reviews.</a:t>
            </a:r>
            <a:br>
              <a:rPr lang="en-US" sz="2000" b="0" dirty="0"/>
            </a:br>
            <a:r>
              <a:rPr lang="en-US" sz="2000" b="0" dirty="0"/>
              <a:t>Key objectives:</a:t>
            </a:r>
            <a:br>
              <a:rPr lang="en-US" sz="2000" b="0" dirty="0"/>
            </a:br>
            <a:r>
              <a:rPr lang="en-US" sz="2000" b="0" dirty="0"/>
              <a:t>Perform data cleaning and preprocessing.</a:t>
            </a:r>
            <a:br>
              <a:rPr lang="en-US" sz="2000" b="0" dirty="0"/>
            </a:br>
            <a:r>
              <a:rPr lang="en-US" sz="2000" b="0" dirty="0"/>
              <a:t>Analyze distribution of listings by neighborhood group.</a:t>
            </a:r>
            <a:br>
              <a:rPr lang="en-US" sz="2000" b="0" dirty="0"/>
            </a:br>
            <a:r>
              <a:rPr lang="en-US" sz="2000" b="0" dirty="0"/>
              <a:t>Identify top hosts and how they contribute to listing density.</a:t>
            </a:r>
            <a:br>
              <a:rPr lang="en-US" sz="2000" b="0" dirty="0"/>
            </a:br>
            <a:r>
              <a:rPr lang="en-US" sz="2000" b="0" dirty="0"/>
              <a:t>Compare review activity and availability across neighborhoods and room types.</a:t>
            </a:r>
            <a:br>
              <a:rPr lang="en-US" sz="2000" b="0" dirty="0"/>
            </a:br>
            <a:r>
              <a:rPr lang="en-US" sz="2000" b="0" dirty="0"/>
              <a:t>Generate visualizations (bar charts, heatmaps, scatter plots) to highlight overcrowding patterns.</a:t>
            </a:r>
            <a:br>
              <a:rPr lang="en-US" sz="2000" b="0" dirty="0"/>
            </a:br>
            <a:br>
              <a:rPr lang="en-GB" sz="2000" b="0" dirty="0"/>
            </a:br>
            <a:br>
              <a:rPr lang="en-GB" sz="2000" b="0" dirty="0"/>
            </a:br>
            <a:endParaRPr lang="en-IN" sz="20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85000" lnSpcReduction="10000"/>
          </a:bodyPr>
          <a:lstStyle/>
          <a:p>
            <a:r>
              <a:rPr lang="en-US" sz="3600" b="1" dirty="0"/>
              <a:t>Airbnb Management</a:t>
            </a:r>
            <a:r>
              <a:rPr lang="en-US" sz="3600" dirty="0"/>
              <a:t> → to balance growth across neighborhoods.</a:t>
            </a:r>
          </a:p>
          <a:p>
            <a:r>
              <a:rPr lang="en-US" sz="3600" b="1" dirty="0"/>
              <a:t>Hosts</a:t>
            </a:r>
            <a:r>
              <a:rPr lang="en-US" sz="3600" dirty="0"/>
              <a:t> → to identify competitive markets and optimize listings.</a:t>
            </a:r>
          </a:p>
          <a:p>
            <a:r>
              <a:rPr lang="en-US" sz="3600" b="1" dirty="0"/>
              <a:t>Travelers</a:t>
            </a:r>
            <a:r>
              <a:rPr lang="en-US" sz="3600" dirty="0"/>
              <a:t> → to understand popular areas and choose better-value stays.</a:t>
            </a:r>
          </a:p>
          <a:p>
            <a:r>
              <a:rPr lang="en-US" sz="3600" b="1" dirty="0"/>
              <a:t>Urban Planners/Researchers</a:t>
            </a:r>
            <a:r>
              <a:rPr lang="en-US" sz="3600" dirty="0"/>
              <a:t> → to study the impact of Airbnb on local housing.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2436125"/>
          </a:xfrm>
        </p:spPr>
        <p:txBody>
          <a:bodyPr/>
          <a:lstStyle/>
          <a:p>
            <a:pPr marL="0" lvl="0" indent="0" defTabSz="914400" eaLnBrk="0" fontAlgn="base" hangingPunct="0">
              <a:lnSpc>
                <a:spcPct val="100000"/>
              </a:lnSpc>
              <a:spcBef>
                <a:spcPct val="0"/>
              </a:spcBef>
              <a:spcAft>
                <a:spcPct val="0"/>
              </a:spcAft>
              <a:buClrTx/>
              <a:buSzTx/>
              <a:buFontTx/>
              <a:buChar char="•"/>
            </a:pPr>
            <a:r>
              <a:rPr lang="en-US" altLang="en-US" sz="2400" b="1" dirty="0">
                <a:solidFill>
                  <a:schemeClr val="tx1"/>
                </a:solidFill>
              </a:rPr>
              <a:t>Python (Pandas, NumPy)</a:t>
            </a:r>
            <a:r>
              <a:rPr lang="en-US" altLang="en-US" sz="2400" dirty="0">
                <a:solidFill>
                  <a:schemeClr val="tx1"/>
                </a:solidFill>
              </a:rPr>
              <a:t> → Data cleaning and processing.</a:t>
            </a:r>
          </a:p>
          <a:p>
            <a:pPr marL="0" lvl="0" indent="0" defTabSz="914400" eaLnBrk="0" fontAlgn="base" hangingPunct="0">
              <a:lnSpc>
                <a:spcPct val="100000"/>
              </a:lnSpc>
              <a:spcBef>
                <a:spcPct val="0"/>
              </a:spcBef>
              <a:spcAft>
                <a:spcPct val="0"/>
              </a:spcAft>
              <a:buClrTx/>
              <a:buSzTx/>
              <a:buFontTx/>
              <a:buChar char="•"/>
            </a:pPr>
            <a:r>
              <a:rPr lang="en-US" altLang="en-US" sz="2400" b="1" dirty="0">
                <a:solidFill>
                  <a:schemeClr val="tx1"/>
                </a:solidFill>
              </a:rPr>
              <a:t>Matplotlib, Seaborn</a:t>
            </a:r>
            <a:r>
              <a:rPr lang="en-US" altLang="en-US" sz="2400" dirty="0">
                <a:solidFill>
                  <a:schemeClr val="tx1"/>
                </a:solidFill>
              </a:rPr>
              <a:t> → Visualizations of listing density and trends.</a:t>
            </a:r>
          </a:p>
          <a:p>
            <a:pPr marL="0" lvl="0" indent="0" defTabSz="914400" eaLnBrk="0" fontAlgn="base" hangingPunct="0">
              <a:lnSpc>
                <a:spcPct val="100000"/>
              </a:lnSpc>
              <a:spcBef>
                <a:spcPct val="0"/>
              </a:spcBef>
              <a:spcAft>
                <a:spcPct val="0"/>
              </a:spcAft>
              <a:buClrTx/>
              <a:buSzTx/>
              <a:buFontTx/>
              <a:buChar char="•"/>
            </a:pPr>
            <a:r>
              <a:rPr lang="en-US" altLang="en-US" sz="2400" b="1" dirty="0" err="1">
                <a:solidFill>
                  <a:schemeClr val="tx1"/>
                </a:solidFill>
              </a:rPr>
              <a:t>WordCloud</a:t>
            </a:r>
            <a:r>
              <a:rPr lang="en-US" altLang="en-US" sz="2400" dirty="0">
                <a:solidFill>
                  <a:schemeClr val="tx1"/>
                </a:solidFill>
              </a:rPr>
              <a:t> → Text analysis of listing names.</a:t>
            </a:r>
          </a:p>
          <a:p>
            <a:pPr marL="0" lvl="0" indent="0" defTabSz="914400" eaLnBrk="0" fontAlgn="base" hangingPunct="0">
              <a:lnSpc>
                <a:spcPct val="100000"/>
              </a:lnSpc>
              <a:spcBef>
                <a:spcPct val="0"/>
              </a:spcBef>
              <a:spcAft>
                <a:spcPct val="0"/>
              </a:spcAft>
              <a:buClrTx/>
              <a:buSzTx/>
              <a:buFontTx/>
              <a:buChar char="•"/>
            </a:pPr>
            <a:r>
              <a:rPr lang="en-US" altLang="en-US" sz="2400" b="1" dirty="0" err="1">
                <a:solidFill>
                  <a:schemeClr val="tx1"/>
                </a:solidFill>
              </a:rPr>
              <a:t>Jupyter</a:t>
            </a:r>
            <a:r>
              <a:rPr lang="en-US" altLang="en-US" sz="2400" b="1" dirty="0">
                <a:solidFill>
                  <a:schemeClr val="tx1"/>
                </a:solidFill>
              </a:rPr>
              <a:t>/Colab</a:t>
            </a:r>
            <a:r>
              <a:rPr lang="en-US" altLang="en-US" sz="2400" dirty="0">
                <a:solidFill>
                  <a:schemeClr val="tx1"/>
                </a:solidFill>
              </a:rPr>
              <a:t> → Development environment.</a:t>
            </a:r>
          </a:p>
          <a:p>
            <a:pPr marL="0" lvl="0" indent="0" defTabSz="914400" eaLnBrk="0" fontAlgn="base" hangingPunct="0">
              <a:lnSpc>
                <a:spcPct val="100000"/>
              </a:lnSpc>
              <a:spcBef>
                <a:spcPct val="0"/>
              </a:spcBef>
              <a:spcAft>
                <a:spcPct val="0"/>
              </a:spcAft>
              <a:buClrTx/>
              <a:buSzTx/>
              <a:buFontTx/>
              <a:buChar char="•"/>
            </a:pPr>
            <a:r>
              <a:rPr lang="en-US" altLang="en-US" sz="2400" b="1" dirty="0">
                <a:solidFill>
                  <a:schemeClr val="tx1"/>
                </a:solidFill>
              </a:rPr>
              <a:t>GitHub</a:t>
            </a:r>
            <a:r>
              <a:rPr lang="en-US" altLang="en-US" sz="2400" dirty="0">
                <a:solidFill>
                  <a:schemeClr val="tx1"/>
                </a:solidFill>
              </a:rPr>
              <a:t> → Repository hosting &amp; version control</a:t>
            </a:r>
            <a:r>
              <a:rPr lang="en-US" altLang="en-US" sz="1800" dirty="0">
                <a:solidFill>
                  <a:schemeClr val="tx1"/>
                </a:solidFill>
                <a:latin typeface="Arial" panose="020B0604020202020204" pitchFamily="34" charset="0"/>
              </a:rPr>
              <a: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fontScale="90000"/>
          </a:bodyPr>
          <a:lstStyle/>
          <a:p>
            <a:r>
              <a:rPr lang="en-GB" dirty="0"/>
              <a:t>RESULTS 1</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sp>
        <p:nvSpPr>
          <p:cNvPr id="3" name="Text Placeholder 2">
            <a:extLst>
              <a:ext uri="{FF2B5EF4-FFF2-40B4-BE49-F238E27FC236}">
                <a16:creationId xmlns:a16="http://schemas.microsoft.com/office/drawing/2014/main" id="{D24CD45B-ED13-B17A-6A4B-0AD336BBECD4}"/>
              </a:ext>
            </a:extLst>
          </p:cNvPr>
          <p:cNvSpPr>
            <a:spLocks noGrp="1"/>
          </p:cNvSpPr>
          <p:nvPr>
            <p:ph type="body" sz="quarter" idx="12"/>
          </p:nvPr>
        </p:nvSpPr>
        <p:spPr>
          <a:xfrm>
            <a:off x="660400" y="1127760"/>
            <a:ext cx="9326880" cy="4785360"/>
          </a:xfrm>
        </p:spPr>
        <p:txBody>
          <a:bodyPr/>
          <a:lstStyle/>
          <a:p>
            <a:endParaRPr lang="en-IN" dirty="0"/>
          </a:p>
        </p:txBody>
      </p:sp>
      <p:pic>
        <p:nvPicPr>
          <p:cNvPr id="11" name="Picture 10">
            <a:extLst>
              <a:ext uri="{FF2B5EF4-FFF2-40B4-BE49-F238E27FC236}">
                <a16:creationId xmlns:a16="http://schemas.microsoft.com/office/drawing/2014/main" id="{CB065226-9984-47F3-2A62-CC757D7C23DC}"/>
              </a:ext>
            </a:extLst>
          </p:cNvPr>
          <p:cNvPicPr>
            <a:picLocks noChangeAspect="1"/>
          </p:cNvPicPr>
          <p:nvPr/>
        </p:nvPicPr>
        <p:blipFill>
          <a:blip r:embed="rId3"/>
          <a:stretch>
            <a:fillRect/>
          </a:stretch>
        </p:blipFill>
        <p:spPr>
          <a:xfrm>
            <a:off x="675956" y="1127760"/>
            <a:ext cx="8864283" cy="478536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8F1A05B-FC6A-AFCA-AE7A-FB9D92C4763B}"/>
              </a:ext>
            </a:extLst>
          </p:cNvPr>
          <p:cNvSpPr>
            <a:spLocks noGrp="1"/>
          </p:cNvSpPr>
          <p:nvPr>
            <p:ph type="body" sz="quarter" idx="12"/>
          </p:nvPr>
        </p:nvSpPr>
        <p:spPr/>
        <p:txBody>
          <a:bodyPr/>
          <a:lstStyle/>
          <a:p>
            <a:endParaRPr lang="en-IN"/>
          </a:p>
        </p:txBody>
      </p:sp>
      <p:sp>
        <p:nvSpPr>
          <p:cNvPr id="3" name="Picture Placeholder 2">
            <a:extLst>
              <a:ext uri="{FF2B5EF4-FFF2-40B4-BE49-F238E27FC236}">
                <a16:creationId xmlns:a16="http://schemas.microsoft.com/office/drawing/2014/main" id="{68B60F66-8ECA-F016-692D-A93086F7DEC9}"/>
              </a:ext>
            </a:extLst>
          </p:cNvPr>
          <p:cNvSpPr>
            <a:spLocks noGrp="1"/>
          </p:cNvSpPr>
          <p:nvPr>
            <p:ph type="pic" sz="quarter" idx="13"/>
          </p:nvPr>
        </p:nvSpPr>
        <p:spPr/>
        <p:txBody>
          <a:bodyPr/>
          <a:lstStyle/>
          <a:p>
            <a:endParaRPr lang="en-IN"/>
          </a:p>
        </p:txBody>
      </p:sp>
      <p:sp>
        <p:nvSpPr>
          <p:cNvPr id="4" name="Title 3">
            <a:extLst>
              <a:ext uri="{FF2B5EF4-FFF2-40B4-BE49-F238E27FC236}">
                <a16:creationId xmlns:a16="http://schemas.microsoft.com/office/drawing/2014/main" id="{0BAA3DDF-30B1-2207-74FF-64F736C9C6AD}"/>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31826933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9DEBD4-1693-34C4-BDEC-DCFE84FC4E53}"/>
              </a:ext>
            </a:extLst>
          </p:cNvPr>
          <p:cNvSpPr>
            <a:spLocks noGrp="1"/>
          </p:cNvSpPr>
          <p:nvPr>
            <p:ph type="body" sz="quarter" idx="12"/>
          </p:nvPr>
        </p:nvSpPr>
        <p:spPr>
          <a:xfrm>
            <a:off x="660400" y="1636210"/>
            <a:ext cx="9438640" cy="4416577"/>
          </a:xfrm>
        </p:spPr>
        <p:txBody>
          <a:bodyPr/>
          <a:lstStyle/>
          <a:p>
            <a:endParaRPr lang="en-IN" dirty="0"/>
          </a:p>
        </p:txBody>
      </p:sp>
      <p:sp>
        <p:nvSpPr>
          <p:cNvPr id="4" name="Title 3">
            <a:extLst>
              <a:ext uri="{FF2B5EF4-FFF2-40B4-BE49-F238E27FC236}">
                <a16:creationId xmlns:a16="http://schemas.microsoft.com/office/drawing/2014/main" id="{17A9E87B-4C54-D9CF-E179-E415D53933AB}"/>
              </a:ext>
            </a:extLst>
          </p:cNvPr>
          <p:cNvSpPr>
            <a:spLocks noGrp="1"/>
          </p:cNvSpPr>
          <p:nvPr>
            <p:ph type="title"/>
          </p:nvPr>
        </p:nvSpPr>
        <p:spPr/>
        <p:txBody>
          <a:bodyPr/>
          <a:lstStyle/>
          <a:p>
            <a:r>
              <a:rPr lang="en-GB" dirty="0"/>
              <a:t>RESULTS 2</a:t>
            </a:r>
            <a:endParaRPr lang="en-IN" dirty="0"/>
          </a:p>
        </p:txBody>
      </p:sp>
      <p:pic>
        <p:nvPicPr>
          <p:cNvPr id="6" name="Picture 5">
            <a:extLst>
              <a:ext uri="{FF2B5EF4-FFF2-40B4-BE49-F238E27FC236}">
                <a16:creationId xmlns:a16="http://schemas.microsoft.com/office/drawing/2014/main" id="{647217B6-CE4E-627A-C10D-99147A9C00D6}"/>
              </a:ext>
            </a:extLst>
          </p:cNvPr>
          <p:cNvPicPr>
            <a:picLocks noChangeAspect="1"/>
          </p:cNvPicPr>
          <p:nvPr/>
        </p:nvPicPr>
        <p:blipFill>
          <a:blip r:embed="rId2"/>
          <a:stretch>
            <a:fillRect/>
          </a:stretch>
        </p:blipFill>
        <p:spPr>
          <a:xfrm>
            <a:off x="660400" y="1564640"/>
            <a:ext cx="9631680" cy="5059680"/>
          </a:xfrm>
          <a:prstGeom prst="rect">
            <a:avLst/>
          </a:prstGeom>
        </p:spPr>
      </p:pic>
    </p:spTree>
    <p:extLst>
      <p:ext uri="{BB962C8B-B14F-4D97-AF65-F5344CB8AC3E}">
        <p14:creationId xmlns:p14="http://schemas.microsoft.com/office/powerpoint/2010/main" val="2831824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EAF875C-DEBA-E4AC-4A03-00321C3B63FD}"/>
              </a:ext>
            </a:extLst>
          </p:cNvPr>
          <p:cNvSpPr>
            <a:spLocks noGrp="1"/>
          </p:cNvSpPr>
          <p:nvPr>
            <p:ph type="body" sz="quarter" idx="12"/>
          </p:nvPr>
        </p:nvSpPr>
        <p:spPr>
          <a:xfrm>
            <a:off x="1044258" y="2438400"/>
            <a:ext cx="8605520" cy="3807143"/>
          </a:xfrm>
        </p:spPr>
        <p:txBody>
          <a:bodyPr/>
          <a:lstStyle/>
          <a:p>
            <a:endParaRPr lang="en-IN" dirty="0"/>
          </a:p>
        </p:txBody>
      </p:sp>
      <p:sp>
        <p:nvSpPr>
          <p:cNvPr id="4" name="Title 3">
            <a:extLst>
              <a:ext uri="{FF2B5EF4-FFF2-40B4-BE49-F238E27FC236}">
                <a16:creationId xmlns:a16="http://schemas.microsoft.com/office/drawing/2014/main" id="{6FFE20D1-A011-5923-1B25-1957F98F080F}"/>
              </a:ext>
            </a:extLst>
          </p:cNvPr>
          <p:cNvSpPr>
            <a:spLocks noGrp="1"/>
          </p:cNvSpPr>
          <p:nvPr>
            <p:ph type="title"/>
          </p:nvPr>
        </p:nvSpPr>
        <p:spPr/>
        <p:txBody>
          <a:bodyPr/>
          <a:lstStyle/>
          <a:p>
            <a:r>
              <a:rPr lang="en-GB" dirty="0"/>
              <a:t>RESULTS 3</a:t>
            </a:r>
            <a:endParaRPr lang="en-IN" dirty="0"/>
          </a:p>
        </p:txBody>
      </p:sp>
      <p:pic>
        <p:nvPicPr>
          <p:cNvPr id="6" name="Picture 5">
            <a:extLst>
              <a:ext uri="{FF2B5EF4-FFF2-40B4-BE49-F238E27FC236}">
                <a16:creationId xmlns:a16="http://schemas.microsoft.com/office/drawing/2014/main" id="{7B0D6BA9-3105-1DB7-B108-2F0BCC238B2C}"/>
              </a:ext>
            </a:extLst>
          </p:cNvPr>
          <p:cNvPicPr>
            <a:picLocks noChangeAspect="1"/>
          </p:cNvPicPr>
          <p:nvPr/>
        </p:nvPicPr>
        <p:blipFill>
          <a:blip r:embed="rId2"/>
          <a:stretch>
            <a:fillRect/>
          </a:stretch>
        </p:blipFill>
        <p:spPr>
          <a:xfrm>
            <a:off x="497401" y="1456571"/>
            <a:ext cx="10831437" cy="5401429"/>
          </a:xfrm>
          <a:prstGeom prst="rect">
            <a:avLst/>
          </a:prstGeom>
        </p:spPr>
      </p:pic>
    </p:spTree>
    <p:extLst>
      <p:ext uri="{BB962C8B-B14F-4D97-AF65-F5344CB8AC3E}">
        <p14:creationId xmlns:p14="http://schemas.microsoft.com/office/powerpoint/2010/main" val="1136462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2672081" y="3535681"/>
            <a:ext cx="5232400" cy="2214880"/>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192589" y="2749647"/>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762000" y="1656080"/>
            <a:ext cx="8524240" cy="868133"/>
          </a:xfrm>
        </p:spPr>
        <p:txBody>
          <a:bodyPr>
            <a:normAutofit/>
          </a:bodyPr>
          <a:lstStyle/>
          <a:p>
            <a:r>
              <a:rPr lang="en-IN" dirty="0" err="1"/>
              <a:t>Github</a:t>
            </a:r>
            <a:r>
              <a:rPr lang="en-IN" dirty="0"/>
              <a:t> link : </a:t>
            </a:r>
            <a:r>
              <a:rPr lang="en-IN" dirty="0">
                <a:solidFill>
                  <a:schemeClr val="tx1"/>
                </a:solidFill>
                <a:hlinkClick r:id="rId3">
                  <a:extLst>
                    <a:ext uri="{A12FA001-AC4F-418D-AE19-62706E023703}">
                      <ahyp:hlinkClr xmlns:ahyp="http://schemas.microsoft.com/office/drawing/2018/hyperlinkcolor" val="tx"/>
                    </a:ext>
                  </a:extLst>
                </a:hlinkClick>
              </a:rPr>
              <a:t>mohit-756/AIRBNB-HOTEL-BOOKING-ANALYSIS</a:t>
            </a:r>
            <a:endParaRPr lang="en-IN" dirty="0">
              <a:solidFill>
                <a:schemeClr val="tx1"/>
              </a:solidFill>
            </a:endParaRPr>
          </a:p>
        </p:txBody>
      </p:sp>
      <p:pic>
        <p:nvPicPr>
          <p:cNvPr id="4" name="Picture 3">
            <a:extLst>
              <a:ext uri="{FF2B5EF4-FFF2-40B4-BE49-F238E27FC236}">
                <a16:creationId xmlns:a16="http://schemas.microsoft.com/office/drawing/2014/main" id="{8A86A023-A490-00AD-6F39-D45ADC1C912C}"/>
              </a:ext>
            </a:extLst>
          </p:cNvPr>
          <p:cNvPicPr>
            <a:picLocks noChangeAspect="1"/>
          </p:cNvPicPr>
          <p:nvPr/>
        </p:nvPicPr>
        <p:blipFill>
          <a:blip r:embed="rId4"/>
          <a:stretch>
            <a:fillRect/>
          </a:stretch>
        </p:blipFill>
        <p:spPr>
          <a:xfrm>
            <a:off x="3006946" y="2376448"/>
            <a:ext cx="4782217" cy="2819794"/>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 calcmode="lin" valueType="num">
                                      <p:cBhvr additive="base">
                                        <p:cTn id="13"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p:tgtEl>
                                          <p:spTgt spid="20"/>
                                        </p:tgtEl>
                                        <p:attrNameLst>
                                          <p:attrName>ppt_y</p:attrName>
                                        </p:attrNameLst>
                                      </p:cBhvr>
                                      <p:tavLst>
                                        <p:tav tm="0">
                                          <p:val>
                                            <p:strVal val="#ppt_y+#ppt_h*1.125000"/>
                                          </p:val>
                                        </p:tav>
                                        <p:tav tm="100000">
                                          <p:val>
                                            <p:strVal val="#ppt_y"/>
                                          </p:val>
                                        </p:tav>
                                      </p:tavLst>
                                    </p:anim>
                                    <p:animEffect transition="in" filter="wipe(up)">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nodePh="1">
                                  <p:stCondLst>
                                    <p:cond delay="0"/>
                                  </p:stCondLst>
                                  <p:endCondLst>
                                    <p:cond evt="begin" delay="0">
                                      <p:tn val="23"/>
                                    </p:cond>
                                  </p:end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p:tgtEl>
                                          <p:spTgt spid="30"/>
                                        </p:tgtEl>
                                        <p:attrNameLst>
                                          <p:attrName>ppt_y</p:attrName>
                                        </p:attrNameLst>
                                      </p:cBhvr>
                                      <p:tavLst>
                                        <p:tav tm="0">
                                          <p:val>
                                            <p:strVal val="#ppt_y+#ppt_h*1.125000"/>
                                          </p:val>
                                        </p:tav>
                                        <p:tav tm="100000">
                                          <p:val>
                                            <p:strVal val="#ppt_y"/>
                                          </p:val>
                                        </p:tav>
                                      </p:tavLst>
                                    </p:anim>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nodePh="1">
                                  <p:stCondLst>
                                    <p:cond delay="0"/>
                                  </p:stCondLst>
                                  <p:endCondLst>
                                    <p:cond evt="begin" delay="0">
                                      <p:tn val="29"/>
                                    </p:cond>
                                  </p:end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p:tgtEl>
                                          <p:spTgt spid="23"/>
                                        </p:tgtEl>
                                        <p:attrNameLst>
                                          <p:attrName>ppt_y</p:attrName>
                                        </p:attrNameLst>
                                      </p:cBhvr>
                                      <p:tavLst>
                                        <p:tav tm="0">
                                          <p:val>
                                            <p:strVal val="#ppt_y+#ppt_h*1.125000"/>
                                          </p:val>
                                        </p:tav>
                                        <p:tav tm="100000">
                                          <p:val>
                                            <p:strVal val="#ppt_y"/>
                                          </p:val>
                                        </p:tav>
                                      </p:tavLst>
                                    </p:anim>
                                    <p:animEffect transition="in" filter="wipe(up)">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p:tgtEl>
                                          <p:spTgt spid="32"/>
                                        </p:tgtEl>
                                        <p:attrNameLst>
                                          <p:attrName>ppt_y</p:attrName>
                                        </p:attrNameLst>
                                      </p:cBhvr>
                                      <p:tavLst>
                                        <p:tav tm="0">
                                          <p:val>
                                            <p:strVal val="#ppt_y+#ppt_h*1.125000"/>
                                          </p:val>
                                        </p:tav>
                                        <p:tav tm="100000">
                                          <p:val>
                                            <p:strVal val="#ppt_y"/>
                                          </p:val>
                                        </p:tav>
                                      </p:tavLst>
                                    </p:anim>
                                    <p:animEffect transition="in" filter="wipe(up)">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566</TotalTime>
  <Words>283</Words>
  <Application>Microsoft Office PowerPoint</Application>
  <PresentationFormat>Widescreen</PresentationFormat>
  <Paragraphs>23</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Trebuchet MS</vt:lpstr>
      <vt:lpstr>Wingdings</vt:lpstr>
      <vt:lpstr>Wingdings 3</vt:lpstr>
      <vt:lpstr>Facet</vt:lpstr>
      <vt:lpstr>Project Title  AIRBNB HOTEL BOOKING ANALYSIS</vt:lpstr>
      <vt:lpstr>PROBLEM  STATEMENT</vt:lpstr>
      <vt:lpstr>Project Description This project explores Airbnb data to uncover imbalances in listings across neighborhoods and study the relationship between room types, availability, and guest reviews. Key objectives: Perform data cleaning and preprocessing. Analyze distribution of listings by neighborhood group. Identify top hosts and how they contribute to listing density. Compare review activity and availability across neighborhoods and room types. Generate visualizations (bar charts, heatmaps, scatter plots) to highlight overcrowding patterns.   </vt:lpstr>
      <vt:lpstr>WHO ARE THE END USERS?</vt:lpstr>
      <vt:lpstr>Technology Used</vt:lpstr>
      <vt:lpstr>RESULTS 1</vt:lpstr>
      <vt:lpstr>PowerPoint Presentation</vt:lpstr>
      <vt:lpstr>RESULTS 2</vt:lpstr>
      <vt:lpstr>RESULTS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Priyanka Boda</cp:lastModifiedBy>
  <cp:revision>75</cp:revision>
  <dcterms:created xsi:type="dcterms:W3CDTF">2021-07-11T13:13:15Z</dcterms:created>
  <dcterms:modified xsi:type="dcterms:W3CDTF">2025-11-27T08:34:46Z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